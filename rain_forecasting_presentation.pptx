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105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852160"/>
            <a:ext cx="73152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SPINNAKER ANALYTICS  ·  DATA SCIENCE &amp;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Forecasting.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approach to monthly rainfall prediction for Mumbai.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5989320"/>
            <a:ext cx="3657600" cy="502920"/>
          </a:xfrm>
          <a:prstGeom prst="rect">
            <a:avLst/>
          </a:prstGeom>
          <a:solidFill>
            <a:srgbClr val="065A82">
              <a:alpha val="7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035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Daniyal Khan</a:t>
            </a:r>
            <a:r>
              <a:rPr lang="en-US" sz="11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April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45920" y="1719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Mumbai needs rainfall forecasts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55448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98080" y="1719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years of monthly rainfall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7180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645920" y="3136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seasonality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9718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97180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498080" y="3136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approaches benchmarked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38912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26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645920" y="4553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45920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wins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438912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38912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526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498080" y="4553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Recommendations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98080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Mumbai's water depends on the monsoon.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389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Mumbai's annual rainfall arrives in the four monsoon months — June through September.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monsoon = water rationing for 20M+ residents.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71907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0760" y="2011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lakes refill almost entirely between June and September. Forecasts drive release schedules.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81635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Anticipating shortfalls allows pre-emptive demand management and tanker contracts.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391363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8076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windows must be timed around the rainy season.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501091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5010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reactive utility hits the most vulnerable hardest — forecasting reduces that risk.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69748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monthly rainfall with statistically meaningful accuracy.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46704" y="17373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6704" y="1737360"/>
            <a:ext cx="269748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575304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75304" y="3931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classical, tree-based and deep-learning approaches.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17373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737360"/>
            <a:ext cx="269748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6464808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64808" y="3931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clear 12-month forward forecast for planners.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25712" y="17373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25712" y="1737360"/>
            <a:ext cx="269748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9354312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54312" y="3931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 + actionable recommendations.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years of Mumbai monthly rainfall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64592" cy="16459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years of Mumbai monthly rainfall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25603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observations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45920"/>
            <a:ext cx="256032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(1901 – 2021)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25603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~2,150 mm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34747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47472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38328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wide to long format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2011680"/>
            <a:ext cx="5486400" cy="1371600"/>
          </a:xfrm>
          <a:prstGeom prst="rect">
            <a:avLst/>
          </a:prstGeom>
          <a:solidFill>
            <a:srgbClr val="E8F1F5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103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| Jan | Feb | … | Dec |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1901 |  13 |   0 | … |   0 | 2182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1902 |   0 |   0 | … |  19 | 1961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format (raw)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8869680" y="3749040"/>
            <a:ext cx="548640" cy="36576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297680"/>
            <a:ext cx="5486400" cy="1371600"/>
          </a:xfrm>
          <a:prstGeom prst="rect">
            <a:avLst/>
          </a:prstGeom>
          <a:solidFill>
            <a:srgbClr val="E8F1F5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389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        |  Month  |  Rainfall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1901-01-01   |    1    |   13.12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1901-06-01   |    6    |  640.71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1901-07-01   |    7    |  888.37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 (model-ready)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TIME SERIES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regular seasonality across 121 years</a:t>
            </a:r>
            <a:endParaRPr lang="en-US" sz="3200" dirty="0"/>
          </a:p>
        </p:txBody>
      </p:sp>
      <p:pic>
        <p:nvPicPr>
          <p:cNvPr id="6" name="Image 0" descr="/sessions/wonderful-pensive-thompson/mnt/outputs/nb_images/cell_8_img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7724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532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Monthly rainfall, 1901-2021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595360" y="1554480"/>
            <a:ext cx="3108960" cy="4206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78240" y="219456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yearly cycles dominate the series.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trend — variation is mostly amplitude.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Weak/strong monsoon years stand out as cycle peaks.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Dry-season floor sits near zero.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SEASONALITY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carry the bulk of the rain</a:t>
            </a:r>
            <a:endParaRPr lang="en-US" sz="3200" dirty="0"/>
          </a:p>
        </p:txBody>
      </p:sp>
      <p:pic>
        <p:nvPicPr>
          <p:cNvPr id="6" name="Image 0" descr="/sessions/wonderful-pensive-thompson/mnt/outputs/nb_images/cell_10_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85800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760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Boxplots of monthly rainfall distribution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89520" y="1554480"/>
            <a:ext cx="411480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1691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– Sep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772400" y="2377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monsoon window — the entire model is engineered around this signal.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0" y="3703320"/>
            <a:ext cx="4114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0" y="42062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seasonality means a feature like 'rainfall in this month last year' (lag_12) is a very strong predictor — and that's exactly what the best model leverages.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from raw CSV to forecast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64592" cy="16459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from raw CSV to forecast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5400000">
            <a:off x="1833372" y="2560320"/>
            <a:ext cx="91440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DataFrame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219456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250692" y="2560320"/>
            <a:ext cx="91440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→ Long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19456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668012" y="2560320"/>
            <a:ext cx="91440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&amp; boxplots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rot="5400000">
            <a:off x="6085332" y="2560320"/>
            <a:ext cx="91440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19456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 rot="5400000">
            <a:off x="7502652" y="2560320"/>
            <a:ext cx="91440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 … lag_12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43800" y="219456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4380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 rot="5400000">
            <a:off x="8919972" y="2560320"/>
            <a:ext cx="91440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1901-2010 / 2011-2021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61120" y="2194560"/>
            <a:ext cx="13716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068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6112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 rot="5400000">
            <a:off x="10337292" y="2560320"/>
            <a:ext cx="91440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candidate models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378440" y="219456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41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7844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37844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12-month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20624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343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0080" y="4846320"/>
            <a:ext cx="5074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15000" y="4846320"/>
            <a:ext cx="32004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8463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·  1901 – 2010 (110 years)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715000" y="4846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" y="5440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– 2021 (11 years)  ·  held-out, never seen during training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09360" y="4206240"/>
            <a:ext cx="5394960" cy="2011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92240" y="4754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error in mm — interpretable.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misses; key for monsoon peaks.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 confirms stationarity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2004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737360"/>
            <a:ext cx="219456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Statistic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25603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40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rainfall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240280"/>
            <a:ext cx="2194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240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-5.59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224028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 × 10⁻⁶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0" y="224028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3200400" cy="594360"/>
          </a:xfrm>
          <a:prstGeom prst="rect">
            <a:avLst/>
          </a:prstGeom>
          <a:solidFill>
            <a:srgbClr val="E8F1F5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8803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First-differenced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2880360"/>
            <a:ext cx="2194560" cy="594360"/>
          </a:xfrm>
          <a:prstGeom prst="rect">
            <a:avLst/>
          </a:prstGeom>
          <a:solidFill>
            <a:srgbClr val="E8F1F5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880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-17.70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2880360"/>
            <a:ext cx="2560320" cy="594360"/>
          </a:xfrm>
          <a:prstGeom prst="rect">
            <a:avLst/>
          </a:prstGeom>
          <a:solidFill>
            <a:srgbClr val="E8F1F5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 × 10⁻³⁰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0" y="2880360"/>
            <a:ext cx="2743200" cy="594360"/>
          </a:xfrm>
          <a:prstGeom prst="rect">
            <a:avLst/>
          </a:prstGeom>
          <a:solidFill>
            <a:srgbClr val="E8F1F5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2880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p-values are far below 0.05 → series is stationary in level form. Differencing is still applied for the SARIMA model and the Rainfall_diff feature.</a:t>
            </a:r>
            <a:endParaRPr lang="en-US" sz="1300" dirty="0"/>
          </a:p>
        </p:txBody>
      </p:sp>
      <p:pic>
        <p:nvPicPr>
          <p:cNvPr id="32" name="Image 0" descr="/sessions/wonderful-pensive-thompson/mnt/outputs/nb_images/cell_19_img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4880"/>
            <a:ext cx="5486400" cy="1691640"/>
          </a:xfrm>
          <a:prstGeom prst="rect">
            <a:avLst/>
          </a:prstGeom>
        </p:spPr>
      </p:pic>
      <p:pic>
        <p:nvPicPr>
          <p:cNvPr id="33" name="Image 1" descr="/sessions/wonderful-pensive-thompson/mnt/outputs/nb_images/cell_19_img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754880"/>
            <a:ext cx="5486400" cy="169164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models. Three families.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SARIMA(1,1,1)(1,1,1,12)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148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baseline. Captures seasonality explicitly via order 12 lag.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291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on lag_1 … lag_12, Month, Rainfall_diff.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840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n_estimators=300, learning_rate=0.05, max_depth=5.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GAM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98348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83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4983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yearly seasonality. Calendar-driven.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532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0" y="5532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layers × 64 units, dropout 0.2, 12-month sequences.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MODEL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by a wide margin.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64592" cy="16459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by a wide margin.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029200" cy="4572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engineered lag features.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572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58.22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4114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017520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69% RMSE reduction vs SARIMA baseline.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· RMSE (mm)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2258568"/>
            <a:ext cx="36576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2258568"/>
            <a:ext cx="747177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856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58.22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0" y="3035808"/>
            <a:ext cx="36576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3035808"/>
            <a:ext cx="976002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3856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89520" y="3813048"/>
            <a:ext cx="36576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3813048"/>
            <a:ext cx="2390530" cy="274320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186.27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4590288"/>
            <a:ext cx="36576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4590288"/>
            <a:ext cx="2623590" cy="274320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338560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204.43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60720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89520" y="5367528"/>
            <a:ext cx="36576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5367528"/>
            <a:ext cx="3653622" cy="274320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38560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284.69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XGBOOST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tracks both peaks and dry months</a:t>
            </a:r>
            <a:endParaRPr lang="en-US" sz="3200" dirty="0"/>
          </a:p>
        </p:txBody>
      </p:sp>
      <p:pic>
        <p:nvPicPr>
          <p:cNvPr id="6" name="Image 0" descr="/sessions/wonderful-pensive-thompson/mnt/outputs/nb_images/cell_57_img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822960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— Actual rainfall (blue) vs XGBoost predictions (orange) on the 2011-2021 hold-out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869680" y="1554480"/>
            <a:ext cx="2834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0" y="1554480"/>
            <a:ext cx="91440" cy="4206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982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098280" y="2011680"/>
            <a:ext cx="2606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fit on monsoon peaks (Jul-Sep).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Dry-season floor near zero is preserved.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year-to-year amplitude swings.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lag on a few peak transitions.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year's same month is the strongest signal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1901952"/>
            <a:ext cx="64008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901952"/>
            <a:ext cx="6144768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calendar month, 1 year ago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Rainfall_diff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2679192"/>
            <a:ext cx="64008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679192"/>
            <a:ext cx="2726741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3327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First-difference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6080" y="3456432"/>
            <a:ext cx="64008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456432"/>
            <a:ext cx="1331366" cy="274320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month index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926080" y="4233672"/>
            <a:ext cx="64008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4233672"/>
            <a:ext cx="1126541" cy="274320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3272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month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926080" y="5010912"/>
            <a:ext cx="6400800" cy="2743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5010912"/>
            <a:ext cx="716890" cy="274320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4937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3272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months ago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760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the model's predictive power comes from a single feature: the rainfall observed in the same month one year earlier. That's the seasonal cycle, made explicit.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 — forecast</a:t>
            </a:r>
            <a:endParaRPr lang="en-US" sz="3200" dirty="0"/>
          </a:p>
        </p:txBody>
      </p:sp>
      <p:pic>
        <p:nvPicPr>
          <p:cNvPr id="6" name="Image 0" descr="/sessions/wonderful-pensive-thompson/mnt/outputs/nb_images/cell_124_img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77240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10 — 5 years of history + 12-month XGBoost forecast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039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· mm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03920" y="1828800"/>
            <a:ext cx="1005840" cy="914400"/>
          </a:xfrm>
          <a:prstGeom prst="rect">
            <a:avLst/>
          </a:prstGeom>
          <a:solidFill>
            <a:srgbClr val="C9D5E0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146.6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01200" y="1828800"/>
            <a:ext cx="1005840" cy="914400"/>
          </a:xfrm>
          <a:prstGeom prst="rect">
            <a:avLst/>
          </a:prstGeom>
          <a:solidFill>
            <a:srgbClr val="CCD8E2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132.9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698480" y="1828800"/>
            <a:ext cx="1005840" cy="914400"/>
          </a:xfrm>
          <a:prstGeom prst="rect">
            <a:avLst/>
          </a:prstGeom>
          <a:solidFill>
            <a:srgbClr val="DCE7ED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69848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503920" y="2788920"/>
            <a:ext cx="1005840" cy="914400"/>
          </a:xfrm>
          <a:prstGeom prst="rect">
            <a:avLst/>
          </a:prstGeom>
          <a:solidFill>
            <a:srgbClr val="E8F1F5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0392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788920"/>
            <a:ext cx="1005840" cy="914400"/>
          </a:xfrm>
          <a:prstGeom prst="rect">
            <a:avLst/>
          </a:prstGeom>
          <a:solidFill>
            <a:srgbClr val="E5EEF3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698480" y="2788920"/>
            <a:ext cx="1005840" cy="914400"/>
          </a:xfrm>
          <a:prstGeom prst="rect">
            <a:avLst/>
          </a:prstGeom>
          <a:solidFill>
            <a:srgbClr val="D0DBE4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6984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69848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115.6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503920" y="3749040"/>
            <a:ext cx="1005840" cy="914400"/>
          </a:xfrm>
          <a:prstGeom prst="rect">
            <a:avLst/>
          </a:prstGeom>
          <a:solidFill>
            <a:srgbClr val="A8B7C9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0392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50392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305.0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601200" y="3749040"/>
            <a:ext cx="1005840" cy="914400"/>
          </a:xfrm>
          <a:prstGeom prst="rect">
            <a:avLst/>
          </a:prstGeom>
          <a:solidFill>
            <a:srgbClr val="7D90AB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0120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60120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511.6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698480" y="3749040"/>
            <a:ext cx="1005840" cy="914400"/>
          </a:xfrm>
          <a:prstGeom prst="rect">
            <a:avLst/>
          </a:prstGeom>
          <a:solidFill>
            <a:srgbClr val="4D658B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9848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69848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740.2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503920" y="4709160"/>
            <a:ext cx="1005840" cy="914400"/>
          </a:xfrm>
          <a:prstGeom prst="rect">
            <a:avLst/>
          </a:prstGeom>
          <a:solidFill>
            <a:srgbClr val="4A6288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50392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503920" y="5074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757.8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601200" y="4709160"/>
            <a:ext cx="1005840" cy="914400"/>
          </a:xfrm>
          <a:prstGeom prst="rect">
            <a:avLst/>
          </a:prstGeom>
          <a:solidFill>
            <a:srgbClr val="8698B1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0120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601200" y="5074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470.1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698480" y="4709160"/>
            <a:ext cx="1005840" cy="914400"/>
          </a:xfrm>
          <a:prstGeom prst="rect">
            <a:avLst/>
          </a:prstGeom>
          <a:solidFill>
            <a:srgbClr val="B8C5D4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69848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698480" y="5074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232.2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457200" y="521208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5349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3,484 mm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548640" y="5989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total (forecast)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264408" y="5440680"/>
            <a:ext cx="9144" cy="914400"/>
          </a:xfrm>
          <a:prstGeom prst="rect">
            <a:avLst/>
          </a:prstGeom>
          <a:solidFill>
            <a:srgbClr val="DDE7E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355848" y="5349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757.8 mm</a:t>
            </a:r>
            <a:endParaRPr lang="en-US" sz="2600" dirty="0"/>
          </a:p>
        </p:txBody>
      </p:sp>
      <p:sp>
        <p:nvSpPr>
          <p:cNvPr id="50" name="Text 47"/>
          <p:cNvSpPr/>
          <p:nvPr/>
        </p:nvSpPr>
        <p:spPr>
          <a:xfrm>
            <a:off x="3355848" y="5989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— Oct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071616" y="5440680"/>
            <a:ext cx="9144" cy="914400"/>
          </a:xfrm>
          <a:prstGeom prst="rect">
            <a:avLst/>
          </a:prstGeom>
          <a:solidFill>
            <a:srgbClr val="DDE7E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163056" y="5349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mm</a:t>
            </a:r>
            <a:endParaRPr lang="en-US" sz="2600" dirty="0"/>
          </a:p>
        </p:txBody>
      </p:sp>
      <p:sp>
        <p:nvSpPr>
          <p:cNvPr id="53" name="Text 50"/>
          <p:cNvSpPr/>
          <p:nvPr/>
        </p:nvSpPr>
        <p:spPr>
          <a:xfrm>
            <a:off x="6163056" y="5989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driest month — Apr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8878824" y="5440680"/>
            <a:ext cx="9144" cy="914400"/>
          </a:xfrm>
          <a:prstGeom prst="rect">
            <a:avLst/>
          </a:prstGeom>
          <a:solidFill>
            <a:srgbClr val="DDE7E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970264" y="5349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</a:t>
            </a:r>
            <a:endParaRPr lang="en-US" sz="2600" dirty="0"/>
          </a:p>
        </p:txBody>
      </p:sp>
      <p:sp>
        <p:nvSpPr>
          <p:cNvPr id="56" name="Text 53"/>
          <p:cNvSpPr/>
          <p:nvPr/>
        </p:nvSpPr>
        <p:spPr>
          <a:xfrm>
            <a:off x="8970264" y="5989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share (Jun-Oct)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forecast to work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scheduling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12-month forecast monthly; feed it into reservoir-release schedules across the seven Mumbai lakes.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trigger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1945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forecast Jun-Sep volume falls below the 25th historical percentile, auto-trigger demand-management protocols.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657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pipeline and treatment-plant downtime in months with forecast rainfall &lt; 50 mm (Dec - May).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15468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42900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expansion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3657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ENSO and IOD indices, plus SST anomalies, to lift skill on anomalous monsoon years.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8920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6304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5120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Productionise XGBoost behind a forecasting API with monthly retraining and drift monitoring.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6177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48920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31520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0" y="5120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/ Tableau view showing forecast vs reservoir levels for monthly review meetings.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hindsight to foresight.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58.22 mm RMSE · 12-month forecast ready to deploy.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365760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(lag features)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1688" y="4297680"/>
            <a:ext cx="365760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44568" y="4754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58.22 mm  ·  MAE 24.53 mm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66176" y="4297680"/>
            <a:ext cx="365760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49056" y="4754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lag_12 — same month last year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62389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Daniyal Khan  ·  Spinnaker Analytics  ·  Rain Forecasting  ·  April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378" y="66046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FORECASTING  |  MUMBAI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1281</Words>
  <Application>Microsoft Office PowerPoint</Application>
  <PresentationFormat>Widescreen</PresentationFormat>
  <Paragraphs>330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Spinnaker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 Forecasting — Mumbai</dc:title>
  <dc:subject>Monthly rainfall ML forecasting</dc:subject>
  <dc:creator>Daniyal Khan</dc:creator>
  <cp:lastModifiedBy>Daniyal Khan</cp:lastModifiedBy>
  <cp:revision>2</cp:revision>
  <dcterms:created xsi:type="dcterms:W3CDTF">2026-04-26T11:15:39Z</dcterms:created>
  <dcterms:modified xsi:type="dcterms:W3CDTF">2026-04-26T11:19:53Z</dcterms:modified>
</cp:coreProperties>
</file>